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4" r:id="rId7"/>
    <p:sldId id="261" r:id="rId8"/>
    <p:sldId id="262" r:id="rId9"/>
    <p:sldId id="263" r:id="rId10"/>
    <p:sldId id="265" r:id="rId11"/>
    <p:sldId id="267" r:id="rId12"/>
    <p:sldId id="266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55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Oval 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76279" y="1792223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/>
                </a:solidFill>
              </a:defRPr>
            </a:lvl1pPr>
          </a:lstStyle>
          <a:p>
            <a:fld id="{D200B3F0-A9BC-48CE-8EB6-ECE965069900}" type="datetimeFigureOut">
              <a:rPr lang="en-US" dirty="0"/>
              <a:pPr/>
              <a:t>11/28/2019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63575" y="3226820"/>
            <a:ext cx="3859795" cy="304801"/>
          </a:xfrm>
        </p:spPr>
        <p:txBody>
          <a:bodyPr anchor="b"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7" name="Rectangle 16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1008" y="292608"/>
            <a:ext cx="838199" cy="767687"/>
          </a:xfrm>
        </p:spPr>
        <p:txBody>
          <a:bodyPr/>
          <a:lstStyle>
            <a:lvl1pPr>
              <a:defRPr sz="2800" b="0" i="0"/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1154954" y="947920"/>
            <a:ext cx="8761413" cy="7284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0712A-F861-4AB0-A754-4F5A2033CD4B}" type="datetimeFigureOut">
              <a:rPr lang="en-US" dirty="0"/>
              <a:t>11/28/2019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677644"/>
            <a:ext cx="4351023" cy="2283823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507B7-F2DC-4B2C-B14D-58A9766807A2}" type="datetimeFigureOut">
              <a:rPr lang="en-US" dirty="0"/>
              <a:t>11/28/2019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1368" y="2603500"/>
            <a:ext cx="4828744" cy="3416301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1" y="2603500"/>
            <a:ext cx="4825159" cy="3377705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A483D-5CB4-4842-8F2F-05D5276ACF63}" type="datetimeFigureOut">
              <a:rPr lang="en-US" dirty="0"/>
              <a:t>11/28/2019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36063"/>
            <a:ext cx="48251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212326"/>
            <a:ext cx="4825158" cy="2807476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1" y="2603499"/>
            <a:ext cx="4825160" cy="60882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212327"/>
            <a:ext cx="4825159" cy="2807474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CE32E-9DC0-47C8-A657-48F5C3E4A10B}" type="datetimeFigureOut">
              <a:rPr lang="en-US" dirty="0"/>
              <a:t>11/28/2019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F5C0D-8C3A-4771-A43D-83937FC700D4}" type="datetimeFigureOut">
              <a:rPr lang="en-US" dirty="0"/>
              <a:t>11/28/2019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3D2D6-FCC2-425A-A4A7-8058E8C01CB1}" type="datetimeFigureOut">
              <a:rPr lang="en-US" dirty="0"/>
              <a:t>11/28/2019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5" cy="4572000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F2683-E6E7-4CC3-9EEE-7854DD4F3545}" type="datetimeFigureOut">
              <a:rPr lang="en-US" dirty="0"/>
              <a:t>11/28/2019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693332"/>
            <a:ext cx="3860259" cy="173566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2" y="1143000"/>
            <a:ext cx="3227192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20F81-B39D-4CBB-8BF3-5D6E395D0F72}" type="datetimeFigureOut">
              <a:rPr lang="en-US" dirty="0"/>
              <a:t>11/28/2019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965945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6" y="5532683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9FFFF-3106-4DDB-AA62-0C80862170D6}" type="datetimeFigureOut">
              <a:rPr lang="en-US" dirty="0"/>
              <a:t>11/28/2019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063416"/>
            <a:ext cx="8825659" cy="1379755"/>
          </a:xfrm>
        </p:spPr>
        <p:txBody>
          <a:bodyPr anchor="ctr"/>
          <a:lstStyle>
            <a:lvl1pPr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A38B7-AE95-4DC8-9A51-7A71F545B098}" type="datetimeFigureOut">
              <a:rPr lang="en-US" dirty="0"/>
              <a:t>11/28/2019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1" name="TextBox 10"/>
          <p:cNvSpPr txBox="1"/>
          <p:nvPr/>
        </p:nvSpPr>
        <p:spPr bwMode="gray">
          <a:xfrm>
            <a:off x="898295" y="603589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705137" y="2613787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980517"/>
            <a:ext cx="8460983" cy="2705034"/>
          </a:xfrm>
        </p:spPr>
        <p:txBody>
          <a:bodyPr anchor="ctr"/>
          <a:lstStyle>
            <a:lvl1pPr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86515"/>
            <a:ext cx="7725772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14393"/>
            <a:ext cx="8825659" cy="1012664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1EC2B-8188-4AC2-9F0D-8D09C51D505A}" type="datetimeFigureOut">
              <a:rPr lang="en-US" dirty="0"/>
              <a:t>11/28/2019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4" name="Rectangle 23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2404477"/>
            <a:ext cx="8825659" cy="178870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38587" y="5024967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2B75E-944F-430B-BE5F-C69FA8823C04}" type="datetimeFigureOut">
              <a:rPr lang="en-US" dirty="0"/>
              <a:t>11/28/2019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Placeholder 1"/>
          <p:cNvSpPr>
            <a:spLocks noGrp="1"/>
          </p:cNvSpPr>
          <p:nvPr>
            <p:ph type="title"/>
          </p:nvPr>
        </p:nvSpPr>
        <p:spPr>
          <a:xfrm>
            <a:off x="1154954" y="947920"/>
            <a:ext cx="8761413" cy="7284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10999"/>
            <a:ext cx="312916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4" y="3187261"/>
            <a:ext cx="3129168" cy="283979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10999"/>
            <a:ext cx="31453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87261"/>
            <a:ext cx="3145380" cy="283979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6701" y="2603500"/>
            <a:ext cx="3157448" cy="576261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6700" y="3187261"/>
            <a:ext cx="3161029" cy="2839794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22" name="Straight Connector 21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E0DC7-7F53-471C-A711-B3DA6F2535F3}" type="datetimeFigureOut">
              <a:rPr lang="en-US" dirty="0"/>
              <a:t>11/28/2019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20744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2" y="2611246"/>
            <a:ext cx="2691242" cy="1583764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3" y="5109107"/>
            <a:ext cx="3020745" cy="91794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5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3" y="2642840"/>
            <a:ext cx="2691242" cy="155217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8865" y="5109107"/>
            <a:ext cx="3050438" cy="92140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3434" y="4532845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18992"/>
            <a:ext cx="2691242" cy="1576018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3434" y="5109107"/>
            <a:ext cx="3054127" cy="89634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21" name="Straight Connector 20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F4C9D-4618-451D-80C1-6A376BB42AB4}" type="datetimeFigureOut">
              <a:rPr lang="en-US" dirty="0"/>
              <a:t>11/28/2019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1154954" y="947920"/>
            <a:ext cx="8761413" cy="7284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D2318-CE40-42F6-962A-4C6D6CF697DB}" type="datetimeFigureOut">
              <a:rPr lang="en-US" dirty="0"/>
              <a:t>11/28/2019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Rectangle 12"/>
            <p:cNvSpPr/>
            <p:nvPr/>
          </p:nvSpPr>
          <p:spPr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97430"/>
            <a:ext cx="1409965" cy="4729626"/>
          </a:xfrm>
        </p:spPr>
        <p:txBody>
          <a:bodyPr vert="eaVert" anchor="b" anchorCtr="0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97429"/>
            <a:ext cx="6247546" cy="4729627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76AC1-EB7F-4BEF-90D9-5764B50DAF8A}" type="datetimeFigureOut">
              <a:rPr lang="en-US" dirty="0"/>
              <a:t>11/28/2019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Rectangle 17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5" name="Rectangle 1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1" name="Oval 40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9" name="Oval 3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8" name="Oval 3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49" name="Oval 48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47920"/>
            <a:ext cx="8761413" cy="7284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9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0938" y="6394407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564B320A-89BA-47B2-A525-92E8D10B06E4}" type="datetimeFigureOut">
              <a:rPr lang="en-US" dirty="0"/>
              <a:t>11/28/2019</a:t>
            </a:fld>
            <a:endParaRPr lang="en-US" dirty="0"/>
          </a:p>
        </p:txBody>
      </p:sp>
      <p:sp>
        <p:nvSpPr>
          <p:cNvPr id="20" name="Rectangle 19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39F754-B14A-4541-8E46-38E5E288EB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1653166"/>
            <a:ext cx="8825658" cy="2677648"/>
          </a:xfrm>
        </p:spPr>
        <p:txBody>
          <a:bodyPr/>
          <a:lstStyle/>
          <a:p>
            <a:r>
              <a:rPr lang="es-ES" dirty="0"/>
              <a:t>Propuesta de estación meteorológica inteligente</a:t>
            </a:r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A20F6B59-E2C2-4A60-8991-1379B8D089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4812637"/>
            <a:ext cx="3938040" cy="774571"/>
          </a:xfrm>
        </p:spPr>
        <p:txBody>
          <a:bodyPr>
            <a:normAutofit/>
          </a:bodyPr>
          <a:lstStyle/>
          <a:p>
            <a:r>
              <a:rPr lang="es-ES" dirty="0"/>
              <a:t>Alberto González Martínez</a:t>
            </a:r>
          </a:p>
          <a:p>
            <a:r>
              <a:rPr lang="es-ES" dirty="0"/>
              <a:t>Alejandro Rubio San Andrés</a:t>
            </a:r>
          </a:p>
          <a:p>
            <a:endParaRPr lang="es-ES" dirty="0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7EED6EE5-397F-469C-83EE-56654C2B5BB1}"/>
              </a:ext>
            </a:extLst>
          </p:cNvPr>
          <p:cNvSpPr/>
          <p:nvPr/>
        </p:nvSpPr>
        <p:spPr>
          <a:xfrm>
            <a:off x="7694745" y="4812636"/>
            <a:ext cx="3342300" cy="7745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buClr>
                <a:schemeClr val="accent1"/>
              </a:buClr>
              <a:buSzPct val="80000"/>
            </a:pPr>
            <a:r>
              <a:rPr lang="es-ES" cap="all" dirty="0">
                <a:solidFill>
                  <a:schemeClr val="accent1"/>
                </a:solidFill>
              </a:rPr>
              <a:t>Carlos Serrano Ahijado</a:t>
            </a:r>
          </a:p>
          <a:p>
            <a:pPr>
              <a:spcBef>
                <a:spcPts val="1000"/>
              </a:spcBef>
              <a:buClr>
                <a:schemeClr val="accent1"/>
              </a:buClr>
              <a:buSzPct val="80000"/>
            </a:pPr>
            <a:r>
              <a:rPr lang="es-ES" cap="all" dirty="0">
                <a:solidFill>
                  <a:schemeClr val="accent1"/>
                </a:solidFill>
              </a:rPr>
              <a:t>Sergio de la Moratilla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765E3334-0ADC-4B1A-BA31-70FF9FB0FB94}"/>
              </a:ext>
            </a:extLst>
          </p:cNvPr>
          <p:cNvSpPr/>
          <p:nvPr/>
        </p:nvSpPr>
        <p:spPr>
          <a:xfrm>
            <a:off x="4225522" y="5813849"/>
            <a:ext cx="374095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1000"/>
              </a:spcBef>
              <a:buClr>
                <a:schemeClr val="accent1"/>
              </a:buClr>
              <a:buSzPct val="80000"/>
            </a:pPr>
            <a:r>
              <a:rPr lang="es-ES" cap="all" dirty="0">
                <a:solidFill>
                  <a:schemeClr val="accent1"/>
                </a:solidFill>
              </a:rPr>
              <a:t>Computación UBICUA 3ºgiia</a:t>
            </a:r>
          </a:p>
        </p:txBody>
      </p:sp>
      <p:pic>
        <p:nvPicPr>
          <p:cNvPr id="1026" name="Picture 2" descr="Imagen relacionada">
            <a:extLst>
              <a:ext uri="{FF2B5EF4-FFF2-40B4-BE49-F238E27FC236}">
                <a16:creationId xmlns:a16="http://schemas.microsoft.com/office/drawing/2014/main" id="{C86A6CF2-1E9B-4645-8E1C-E8BC92C91A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929" y="557108"/>
            <a:ext cx="869418" cy="869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8331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EE3859-4318-454F-A4A6-C2038A7DB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1. CONTEXTO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CBBAEE7-490B-4138-8DC4-CAC0D17A00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s-ES" dirty="0"/>
              <a:t>Recabar y registrar datos meteorológicos</a:t>
            </a:r>
          </a:p>
          <a:p>
            <a:pPr lvl="1"/>
            <a:r>
              <a:rPr lang="es-ES" dirty="0"/>
              <a:t>Almacenamiento y representación de los datos</a:t>
            </a:r>
          </a:p>
          <a:p>
            <a:pPr lvl="1"/>
            <a:r>
              <a:rPr lang="es-ES" dirty="0"/>
              <a:t>Productos similares</a:t>
            </a:r>
          </a:p>
          <a:p>
            <a:pPr marL="457200" lvl="1" indent="0">
              <a:buNone/>
            </a:pPr>
            <a:endParaRPr lang="es-E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B6DF37A-4586-492E-AC01-C9408A3AE9B6}"/>
              </a:ext>
            </a:extLst>
          </p:cNvPr>
          <p:cNvPicPr/>
          <p:nvPr/>
        </p:nvPicPr>
        <p:blipFill rotWithShape="1">
          <a:blip r:embed="rId2"/>
          <a:srcRect b="34483"/>
          <a:stretch/>
        </p:blipFill>
        <p:spPr bwMode="auto">
          <a:xfrm>
            <a:off x="1028612" y="4197618"/>
            <a:ext cx="4949400" cy="165154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Imagen 4" descr="Resultado de imagen de netatmo smart home weather station">
            <a:extLst>
              <a:ext uri="{FF2B5EF4-FFF2-40B4-BE49-F238E27FC236}">
                <a16:creationId xmlns:a16="http://schemas.microsoft.com/office/drawing/2014/main" id="{59812EB6-9708-4E14-96B4-93932C9540C6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4030" y="3820064"/>
            <a:ext cx="2406650" cy="240665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F1FCC18-761C-44E0-B5FD-438E44534485}"/>
              </a:ext>
            </a:extLst>
          </p:cNvPr>
          <p:cNvSpPr txBox="1"/>
          <p:nvPr/>
        </p:nvSpPr>
        <p:spPr>
          <a:xfrm flipH="1">
            <a:off x="1028611" y="5835134"/>
            <a:ext cx="568009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50" dirty="0" err="1"/>
              <a:t>Ambient</a:t>
            </a:r>
            <a:r>
              <a:rPr lang="es-ES" sz="1050" dirty="0"/>
              <a:t> </a:t>
            </a:r>
            <a:r>
              <a:rPr lang="es-ES" sz="1050" dirty="0" err="1"/>
              <a:t>Weather</a:t>
            </a:r>
            <a:r>
              <a:rPr lang="es-ES" sz="1050" dirty="0"/>
              <a:t> Smart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CDC60F0-7FDE-499E-B99C-72A34E08AA28}"/>
              </a:ext>
            </a:extLst>
          </p:cNvPr>
          <p:cNvSpPr txBox="1"/>
          <p:nvPr/>
        </p:nvSpPr>
        <p:spPr>
          <a:xfrm flipH="1">
            <a:off x="7921311" y="5867229"/>
            <a:ext cx="491761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50" dirty="0" err="1"/>
              <a:t>Netatmo</a:t>
            </a:r>
            <a:r>
              <a:rPr lang="es-ES" sz="1050" dirty="0"/>
              <a:t> Smart home </a:t>
            </a:r>
          </a:p>
        </p:txBody>
      </p:sp>
    </p:spTree>
    <p:extLst>
      <p:ext uri="{BB962C8B-B14F-4D97-AF65-F5344CB8AC3E}">
        <p14:creationId xmlns:p14="http://schemas.microsoft.com/office/powerpoint/2010/main" val="3773986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3C1BC5-8DD5-4B63-949E-7B5B0CA4E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2. MISION Y ALCANCE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CF329FC-F42E-4C34-92D5-8070980F97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s-ES" dirty="0"/>
              <a:t>Conocer a tiempo real las condiciones meteorológicas de una ubicación</a:t>
            </a:r>
          </a:p>
          <a:p>
            <a:pPr lvl="1"/>
            <a:r>
              <a:rPr lang="es-ES" dirty="0"/>
              <a:t>Temperatura, humedad, presión atmosférica, luz, radiación solar, ubicación, …</a:t>
            </a:r>
          </a:p>
          <a:p>
            <a:pPr lvl="1"/>
            <a:r>
              <a:rPr lang="es-ES" dirty="0"/>
              <a:t>Datos accesibles mediante página web y app móvil</a:t>
            </a:r>
          </a:p>
          <a:p>
            <a:pPr lvl="1"/>
            <a:r>
              <a:rPr lang="es-ES" dirty="0"/>
              <a:t>Avisos internos</a:t>
            </a:r>
          </a:p>
          <a:p>
            <a:pPr lvl="1"/>
            <a:r>
              <a:rPr lang="es-ES" dirty="0"/>
              <a:t>Ampliación de características y funcionalidades en un futuro</a:t>
            </a:r>
          </a:p>
          <a:p>
            <a:pPr lvl="1"/>
            <a:r>
              <a:rPr lang="es-ES" dirty="0"/>
              <a:t>Smart </a:t>
            </a:r>
            <a:r>
              <a:rPr lang="es-ES" dirty="0" err="1"/>
              <a:t>Cities</a:t>
            </a:r>
            <a:endParaRPr lang="es-E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D0BF154-04E6-4C59-8E53-19CC83B3FB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4637314"/>
            <a:ext cx="3247053" cy="1826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93825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814CA6-CBF5-4182-AE7B-DD92EBB37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3. IDEAS DESCARTADAS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C2AF40D-2C97-43E6-8FFA-CF1AE042FB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s-ES" dirty="0"/>
              <a:t>Fabricar un solo prototipo</a:t>
            </a:r>
          </a:p>
          <a:p>
            <a:pPr marL="914400" lvl="2" indent="0">
              <a:buNone/>
            </a:pPr>
            <a:r>
              <a:rPr lang="es-ES" dirty="0"/>
              <a:t>- Debido al bajo precio de los componentes no supone sobrecoste fabricar más</a:t>
            </a:r>
          </a:p>
          <a:p>
            <a:pPr lvl="2">
              <a:buFontTx/>
              <a:buChar char="-"/>
            </a:pPr>
            <a:endParaRPr lang="es-ES" dirty="0"/>
          </a:p>
          <a:p>
            <a:pPr lvl="1"/>
            <a:r>
              <a:rPr lang="es-ES" dirty="0"/>
              <a:t>Crear  estaciones meteorológicas sin GPS</a:t>
            </a:r>
          </a:p>
          <a:p>
            <a:pPr marL="914400" lvl="2" indent="0">
              <a:buNone/>
            </a:pPr>
            <a:r>
              <a:rPr lang="es-ES" dirty="0"/>
              <a:t>- La instalación es de gran utilidad para conocer de donde provienen esos datos</a:t>
            </a:r>
          </a:p>
          <a:p>
            <a:pPr lvl="2">
              <a:buFontTx/>
              <a:buChar char="-"/>
            </a:pPr>
            <a:endParaRPr lang="es-ES" dirty="0"/>
          </a:p>
          <a:p>
            <a:pPr lvl="1"/>
            <a:r>
              <a:rPr lang="es-ES" dirty="0"/>
              <a:t>Realizar únicamente una página web</a:t>
            </a:r>
          </a:p>
          <a:p>
            <a:pPr marL="914400" lvl="2" indent="0">
              <a:buNone/>
            </a:pPr>
            <a:r>
              <a:rPr lang="es-ES" dirty="0"/>
              <a:t>- Debido a la gran cantidad de usuarios que tienen smartphones</a:t>
            </a:r>
          </a:p>
          <a:p>
            <a:pPr marL="914400" lvl="2" indent="0">
              <a:buNone/>
            </a:pPr>
            <a:r>
              <a:rPr lang="es-ES" dirty="0"/>
              <a:t>- En un futuro se desarrollara app en IOS</a:t>
            </a:r>
          </a:p>
        </p:txBody>
      </p:sp>
    </p:spTree>
    <p:extLst>
      <p:ext uri="{BB962C8B-B14F-4D97-AF65-F5344CB8AC3E}">
        <p14:creationId xmlns:p14="http://schemas.microsoft.com/office/powerpoint/2010/main" val="40249966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7452EA-6520-4B17-B51F-AEAC0E26B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4. TECNOLOGIAS UTILIZADAS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EFA0260-328D-41EE-9B21-022A1F9B06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HARDWARE</a:t>
            </a:r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1A72644F-6A37-424E-AE7C-F9D5AEEB43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54954" y="3212326"/>
            <a:ext cx="4825158" cy="3029854"/>
          </a:xfrm>
        </p:spPr>
        <p:txBody>
          <a:bodyPr>
            <a:normAutofit fontScale="92500"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dirty="0"/>
              <a:t>Sensor DHT11 (humedad)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dirty="0"/>
              <a:t>Sensor BMP180 (presión altitud y temperatura)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dirty="0"/>
              <a:t>Sensor lluvia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dirty="0"/>
              <a:t>Sensor LDR (luz)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dirty="0"/>
              <a:t>Sensor CJMCU-6075 (radiación solar)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dirty="0"/>
              <a:t>Sensor 49-E (efecto hall)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dirty="0"/>
              <a:t>Sensor MQ-135 (calidad del aire)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dirty="0"/>
              <a:t>Módulo GY-GPSNEO6MV2 (GPS)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dirty="0"/>
              <a:t>ESP32-WROOM-32 (Wifi y bluetooth)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dirty="0"/>
              <a:t>Raspberry Pi v4 (servidor)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B83FF7E-85A4-4B1B-81C6-EF8007DD70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s-ES" dirty="0"/>
              <a:t>SOFTWARE</a:t>
            </a:r>
          </a:p>
        </p:txBody>
      </p:sp>
      <p:sp>
        <p:nvSpPr>
          <p:cNvPr id="10" name="Marcador de contenido 9">
            <a:extLst>
              <a:ext uri="{FF2B5EF4-FFF2-40B4-BE49-F238E27FC236}">
                <a16:creationId xmlns:a16="http://schemas.microsoft.com/office/drawing/2014/main" id="{1459789F-41D9-4019-A7E2-2E32ED5A3A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08712" y="3212326"/>
            <a:ext cx="4825159" cy="3029853"/>
          </a:xfrm>
        </p:spPr>
        <p:txBody>
          <a:bodyPr>
            <a:normAutofit fontScale="92500"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sz="1300" dirty="0"/>
              <a:t>HTML (página web)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1300" dirty="0"/>
              <a:t>SQL (creación y consultas </a:t>
            </a:r>
            <a:r>
              <a:rPr lang="es-ES" sz="1300" dirty="0" err="1"/>
              <a:t>bd</a:t>
            </a:r>
            <a:r>
              <a:rPr lang="es-ES" sz="1300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1300" dirty="0" err="1"/>
              <a:t>phpMyAdmin</a:t>
            </a:r>
            <a:r>
              <a:rPr lang="es-ES" sz="1300" dirty="0"/>
              <a:t> (comunicación </a:t>
            </a:r>
            <a:r>
              <a:rPr lang="es-ES" sz="1300" dirty="0" err="1"/>
              <a:t>bd</a:t>
            </a:r>
            <a:r>
              <a:rPr lang="es-ES" sz="1300" dirty="0"/>
              <a:t> y web)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1300" dirty="0"/>
              <a:t>XML y Java (aplicación smartphone y comunicación Cliente-Servidor)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1300" dirty="0"/>
              <a:t>Arduino (comunicación Cliente-Servidor estaciones meteorológicas)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1300" dirty="0"/>
              <a:t>Protocolo TCP/IP (comunicaciones)</a:t>
            </a:r>
          </a:p>
        </p:txBody>
      </p:sp>
    </p:spTree>
    <p:extLst>
      <p:ext uri="{BB962C8B-B14F-4D97-AF65-F5344CB8AC3E}">
        <p14:creationId xmlns:p14="http://schemas.microsoft.com/office/powerpoint/2010/main" val="40128491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03DFE7-E74A-4E27-AF60-4A9599220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5. METODOLOGIA DE 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3A43313-4E91-4C9F-9729-C47625F8C8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s-ES" dirty="0"/>
              <a:t>Metodología de desarrollo Kanban</a:t>
            </a:r>
          </a:p>
          <a:p>
            <a:pPr lvl="1"/>
            <a:endParaRPr lang="es-E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785D28E-0E1F-410B-BA10-5D70F80D49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7193" y="3191257"/>
            <a:ext cx="4057614" cy="3370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97922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643FF0-7E01-40A8-B267-5A0C1D956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47920"/>
            <a:ext cx="8761413" cy="728480"/>
          </a:xfrm>
        </p:spPr>
        <p:txBody>
          <a:bodyPr>
            <a:normAutofit/>
          </a:bodyPr>
          <a:lstStyle/>
          <a:p>
            <a:r>
              <a:rPr lang="es-ES" dirty="0"/>
              <a:t>6. ARQUITECTURA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306D459-8672-4A94-857F-5CA871848C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6397313" cy="3416300"/>
          </a:xfrm>
        </p:spPr>
        <p:txBody>
          <a:bodyPr anchor="ctr">
            <a:normAutofit/>
          </a:bodyPr>
          <a:lstStyle/>
          <a:p>
            <a:pPr lvl="1"/>
            <a:r>
              <a:rPr lang="es-ES" dirty="0"/>
              <a:t>Se puede dividir en 4 secciones</a:t>
            </a:r>
          </a:p>
          <a:p>
            <a:pPr marL="914400" lvl="2" indent="0">
              <a:buNone/>
            </a:pPr>
            <a:r>
              <a:rPr lang="es-ES" dirty="0"/>
              <a:t>- Microcontroladores y sensores</a:t>
            </a:r>
          </a:p>
          <a:p>
            <a:pPr marL="914400" lvl="2" indent="0">
              <a:buNone/>
            </a:pPr>
            <a:r>
              <a:rPr lang="es-ES" dirty="0"/>
              <a:t>- Servidor </a:t>
            </a:r>
          </a:p>
          <a:p>
            <a:pPr marL="914400" lvl="2" indent="0">
              <a:buNone/>
            </a:pPr>
            <a:r>
              <a:rPr lang="es-ES" dirty="0"/>
              <a:t>- Base de datos</a:t>
            </a:r>
          </a:p>
          <a:p>
            <a:pPr marL="914400" lvl="2" indent="0">
              <a:buNone/>
            </a:pPr>
            <a:r>
              <a:rPr lang="es-ES" dirty="0"/>
              <a:t>- Aplicación web y móvil</a:t>
            </a:r>
          </a:p>
          <a:p>
            <a:pPr marL="914400" lvl="2" indent="0">
              <a:buNone/>
            </a:pPr>
            <a:endParaRPr lang="es-E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38669C2A-6F14-463D-90BE-A81DDBF66CEC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223819" y="2379406"/>
            <a:ext cx="4454013" cy="2002267"/>
          </a:xfrm>
          <a:prstGeom prst="roundRect">
            <a:avLst>
              <a:gd name="adj" fmla="val 1858"/>
            </a:avLst>
          </a:prstGeom>
          <a:noFill/>
          <a:effectLst/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D1F7D01E-4028-4A02-99F8-ED616B268B82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223819" y="4381673"/>
            <a:ext cx="4454013" cy="2328844"/>
          </a:xfrm>
          <a:prstGeom prst="roundRect">
            <a:avLst>
              <a:gd name="adj" fmla="val 1858"/>
            </a:avLst>
          </a:prstGeom>
          <a:noFill/>
          <a:effectLst/>
        </p:spPr>
      </p:pic>
    </p:spTree>
    <p:extLst>
      <p:ext uri="{BB962C8B-B14F-4D97-AF65-F5344CB8AC3E}">
        <p14:creationId xmlns:p14="http://schemas.microsoft.com/office/powerpoint/2010/main" val="20486209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324271-4425-493D-A9D5-7EFC292AB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7. MODELO DE NEGOCIO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82AEFC8-BB8F-4E41-BB69-5B971A4C25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s-ES" dirty="0"/>
              <a:t>Inversores y socios</a:t>
            </a:r>
          </a:p>
          <a:p>
            <a:pPr marL="914400" lvl="2" indent="0">
              <a:buNone/>
            </a:pPr>
            <a:r>
              <a:rPr lang="es-ES" dirty="0"/>
              <a:t>- AEMET</a:t>
            </a:r>
          </a:p>
          <a:p>
            <a:pPr marL="914400" lvl="2" indent="0">
              <a:buNone/>
            </a:pPr>
            <a:r>
              <a:rPr lang="es-ES" dirty="0"/>
              <a:t>- </a:t>
            </a:r>
            <a:r>
              <a:rPr lang="es-ES" dirty="0" err="1"/>
              <a:t>Foreca</a:t>
            </a:r>
            <a:r>
              <a:rPr lang="es-ES" dirty="0"/>
              <a:t> </a:t>
            </a:r>
            <a:r>
              <a:rPr lang="es-ES" dirty="0" err="1"/>
              <a:t>Ltd</a:t>
            </a:r>
            <a:endParaRPr lang="es-ES" dirty="0"/>
          </a:p>
          <a:p>
            <a:pPr marL="914400" lvl="2" indent="0">
              <a:buNone/>
            </a:pPr>
            <a:r>
              <a:rPr lang="es-ES" dirty="0"/>
              <a:t>- Empresas u organizaciones meteorológicas, desarrollo web, software…</a:t>
            </a:r>
          </a:p>
          <a:p>
            <a:pPr lvl="1"/>
            <a:r>
              <a:rPr lang="es-ES" dirty="0"/>
              <a:t>Marketing</a:t>
            </a:r>
          </a:p>
          <a:p>
            <a:pPr marL="914400" lvl="2" indent="0">
              <a:buNone/>
            </a:pPr>
            <a:r>
              <a:rPr lang="es-ES" dirty="0"/>
              <a:t>- Asesoramiento </a:t>
            </a:r>
            <a:r>
              <a:rPr lang="es-ES" dirty="0" err="1"/>
              <a:t>precompra</a:t>
            </a:r>
            <a:endParaRPr lang="es-ES" dirty="0"/>
          </a:p>
          <a:p>
            <a:pPr marL="914400" lvl="2" indent="0">
              <a:buNone/>
            </a:pPr>
            <a:r>
              <a:rPr lang="es-ES" dirty="0"/>
              <a:t>- Servio de asistencia técnica poscompra</a:t>
            </a:r>
          </a:p>
          <a:p>
            <a:pPr marL="914400" lvl="2" indent="0">
              <a:buNone/>
            </a:pPr>
            <a:r>
              <a:rPr lang="es-ES" dirty="0"/>
              <a:t>- RRSS, web, anuncios…</a:t>
            </a:r>
          </a:p>
        </p:txBody>
      </p:sp>
    </p:spTree>
    <p:extLst>
      <p:ext uri="{BB962C8B-B14F-4D97-AF65-F5344CB8AC3E}">
        <p14:creationId xmlns:p14="http://schemas.microsoft.com/office/powerpoint/2010/main" val="17352491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A4B3EB-475F-48B2-9DBD-523BA18FE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8. PLANIFICACION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2862F2A-4D3F-428B-B051-F8ADE1343C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lvl="1"/>
            <a:r>
              <a:rPr lang="es-ES" dirty="0"/>
              <a:t>Tareas a realizar:</a:t>
            </a:r>
          </a:p>
          <a:p>
            <a:pPr marL="914400" lvl="2" indent="0">
              <a:buNone/>
            </a:pPr>
            <a:r>
              <a:rPr lang="es-ES" dirty="0"/>
              <a:t>- Búsqueda y adquisición de los componentes.</a:t>
            </a:r>
            <a:endParaRPr lang="es-ES" sz="1200" dirty="0"/>
          </a:p>
          <a:p>
            <a:pPr marL="914400" lvl="2" indent="0">
              <a:buNone/>
            </a:pPr>
            <a:r>
              <a:rPr lang="es-ES" dirty="0"/>
              <a:t>- Análisis y búsqueda de información de los distintos componentes del proyecto y productos relacionados en el mercado.</a:t>
            </a:r>
            <a:endParaRPr lang="es-ES" sz="1200" dirty="0"/>
          </a:p>
          <a:p>
            <a:pPr marL="914400" lvl="2" indent="0">
              <a:buNone/>
            </a:pPr>
            <a:r>
              <a:rPr lang="es-ES" dirty="0"/>
              <a:t>- Preparación y puesta a punto del servidor.</a:t>
            </a:r>
            <a:endParaRPr lang="es-ES" sz="1200" dirty="0"/>
          </a:p>
          <a:p>
            <a:pPr marL="914400" lvl="2" indent="0">
              <a:buNone/>
            </a:pPr>
            <a:r>
              <a:rPr lang="es-ES" dirty="0"/>
              <a:t>- Implementación del modelo de datos.</a:t>
            </a:r>
            <a:endParaRPr lang="es-ES" sz="1200" dirty="0"/>
          </a:p>
          <a:p>
            <a:pPr marL="914400" lvl="2" indent="0">
              <a:buNone/>
            </a:pPr>
            <a:r>
              <a:rPr lang="es-ES" dirty="0"/>
              <a:t>- Creación de la base de datos.</a:t>
            </a:r>
            <a:endParaRPr lang="es-ES" sz="1200" dirty="0"/>
          </a:p>
          <a:p>
            <a:pPr marL="914400" lvl="2" indent="0">
              <a:buNone/>
            </a:pPr>
            <a:r>
              <a:rPr lang="es-ES" dirty="0"/>
              <a:t>- Conexión y comunicación Cliente-Servidor.</a:t>
            </a:r>
            <a:endParaRPr lang="es-ES" sz="1200" dirty="0"/>
          </a:p>
          <a:p>
            <a:pPr marL="914400" lvl="2" indent="0">
              <a:buNone/>
            </a:pPr>
            <a:r>
              <a:rPr lang="es-ES" dirty="0"/>
              <a:t>- Implementación del código de todos los componentes.</a:t>
            </a:r>
            <a:endParaRPr lang="es-ES" sz="1200" dirty="0"/>
          </a:p>
          <a:p>
            <a:pPr marL="914400" lvl="2" indent="0">
              <a:buNone/>
            </a:pPr>
            <a:r>
              <a:rPr lang="es-ES" dirty="0"/>
              <a:t>- Construcción de la arquitectura del sistema inteligente.</a:t>
            </a:r>
            <a:endParaRPr lang="es-ES" sz="1200" dirty="0"/>
          </a:p>
          <a:p>
            <a:pPr marL="914400" lvl="2" indent="0">
              <a:buNone/>
            </a:pPr>
            <a:r>
              <a:rPr lang="es-ES" dirty="0"/>
              <a:t>- Creación de la página web.</a:t>
            </a:r>
            <a:endParaRPr lang="es-ES" sz="1200" dirty="0"/>
          </a:p>
          <a:p>
            <a:pPr marL="914400" lvl="2" indent="0">
              <a:buNone/>
            </a:pPr>
            <a:r>
              <a:rPr lang="es-ES" dirty="0"/>
              <a:t>- Creación de la aplicación móvil para sistema operativo Android. </a:t>
            </a:r>
            <a:endParaRPr lang="es-ES" sz="1200" dirty="0"/>
          </a:p>
          <a:p>
            <a:pPr marL="914400" lvl="2" indent="0">
              <a:buNone/>
            </a:pPr>
            <a:r>
              <a:rPr lang="es-ES" dirty="0"/>
              <a:t>- Pruebas y testeo del prototipo.</a:t>
            </a:r>
            <a:endParaRPr lang="es-ES" sz="1200" dirty="0"/>
          </a:p>
          <a:p>
            <a:pPr lvl="2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6519033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C4A759-F9AC-4AF4-B74B-8537E8BDA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8. PLANIFICACION</a:t>
            </a:r>
          </a:p>
        </p:txBody>
      </p:sp>
      <p:pic>
        <p:nvPicPr>
          <p:cNvPr id="8" name="Marcador de contenido 7">
            <a:extLst>
              <a:ext uri="{FF2B5EF4-FFF2-40B4-BE49-F238E27FC236}">
                <a16:creationId xmlns:a16="http://schemas.microsoft.com/office/drawing/2014/main" id="{4897FF48-4B0A-406E-90A1-59FD4BFFEA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b="47070"/>
          <a:stretch/>
        </p:blipFill>
        <p:spPr>
          <a:xfrm>
            <a:off x="1057835" y="2821213"/>
            <a:ext cx="10076330" cy="2795815"/>
          </a:xfrm>
        </p:spPr>
      </p:pic>
    </p:spTree>
    <p:extLst>
      <p:ext uri="{BB962C8B-B14F-4D97-AF65-F5344CB8AC3E}">
        <p14:creationId xmlns:p14="http://schemas.microsoft.com/office/powerpoint/2010/main" val="3662532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C4A759-F9AC-4AF4-B74B-8537E8BDA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8. PLANIFICACION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CAB02FE-C91D-4C78-BF9A-4BB8A7E935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151576A8-2927-4B9A-86EC-402729A22231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1745" y="2603500"/>
            <a:ext cx="9028510" cy="288564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7901658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0B2B3061-01FB-4D92-AD4E-9C9DB362BC3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s-ES" sz="9600" dirty="0"/>
              <a:t>FIN</a:t>
            </a:r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B8F45016-BA29-4FD2-BC22-1A262586E81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7743891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la de reuniones Ion">
  <a:themeElements>
    <a:clrScheme name="Ion Boardroom">
      <a:dk1>
        <a:sysClr val="windowText" lastClr="000000"/>
      </a:dk1>
      <a:lt1>
        <a:sysClr val="window" lastClr="FFFFFF"/>
      </a:lt1>
      <a:dk2>
        <a:srgbClr val="EE5818"/>
      </a:dk2>
      <a:lt2>
        <a:srgbClr val="EBEBEB"/>
      </a:lt2>
      <a:accent1>
        <a:srgbClr val="F5A408"/>
      </a:accent1>
      <a:accent2>
        <a:srgbClr val="FA731A"/>
      </a:accent2>
      <a:accent3>
        <a:srgbClr val="AB9281"/>
      </a:accent3>
      <a:accent4>
        <a:srgbClr val="A18CD0"/>
      </a:accent4>
      <a:accent5>
        <a:srgbClr val="8EBBD2"/>
      </a:accent5>
      <a:accent6>
        <a:srgbClr val="ACC995"/>
      </a:accent6>
      <a:hlink>
        <a:srgbClr val="FAC96A"/>
      </a:hlink>
      <a:folHlink>
        <a:srgbClr val="FCDB9B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04000"/>
                <a:satMod val="128000"/>
                <a:lumMod val="10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68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2000"/>
                <a:hueMod val="42000"/>
                <a:satMod val="124000"/>
                <a:lumMod val="62000"/>
              </a:schemeClr>
              <a:schemeClr val="phClr">
                <a:tint val="96000"/>
                <a:satMod val="13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F1C4790-FE3C-4020-8CA7-00621DA7BBB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296</TotalTime>
  <Words>452</Words>
  <Application>Microsoft Office PowerPoint</Application>
  <PresentationFormat>Panorámica</PresentationFormat>
  <Paragraphs>81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Arial</vt:lpstr>
      <vt:lpstr>Century Gothic</vt:lpstr>
      <vt:lpstr>Wingdings 3</vt:lpstr>
      <vt:lpstr>Sala de reuniones Ion</vt:lpstr>
      <vt:lpstr>Propuesta de estación meteorológica inteligente</vt:lpstr>
      <vt:lpstr>1. CONTEXTO</vt:lpstr>
      <vt:lpstr>2. MISION Y ALCANCE</vt:lpstr>
      <vt:lpstr>3. IDEAS DESCARTADAS</vt:lpstr>
      <vt:lpstr>4. TECNOLOGIAS UTILIZADAS</vt:lpstr>
      <vt:lpstr>5. METODOLOGIA DE DESARROLLO</vt:lpstr>
      <vt:lpstr>6. ARQUITECTURA</vt:lpstr>
      <vt:lpstr>7. MODELO DE NEGOCIO</vt:lpstr>
      <vt:lpstr>8. PLANIFICACION</vt:lpstr>
      <vt:lpstr>8. PLANIFICACION</vt:lpstr>
      <vt:lpstr>8. PLANIFICACION</vt:lpstr>
      <vt:lpstr>FIN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Propuesta de estación meteorológica inteligente</dc:title>
  <dc:creator>alberto gonzalez martinez</dc:creator>
  <cp:lastModifiedBy>alberto gonzalez martinez</cp:lastModifiedBy>
  <cp:revision>14</cp:revision>
  <dcterms:created xsi:type="dcterms:W3CDTF">2019-11-26T17:13:15Z</dcterms:created>
  <dcterms:modified xsi:type="dcterms:W3CDTF">2019-11-28T15:45:26Z</dcterms:modified>
</cp:coreProperties>
</file>